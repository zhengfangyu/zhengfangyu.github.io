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0289ad58746f5" /><Relationship Type="http://schemas.openxmlformats.org/officeDocument/2006/relationships/extended-properties" Target="/docProps/app.xml" Id="R6a0ecea203514416" /><Relationship Type="http://schemas.openxmlformats.org/officeDocument/2006/relationships/officeDocument" Target="/ppt/presentation.xml" Id="R30436a423242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6905f95eb4efd"/>
    <p:sldMasterId xmlns:r="http://schemas.openxmlformats.org/officeDocument/2006/relationships" id="2147483653" r:id="R9793e0840e3e43bf"/>
  </p:sldMasterIdLst>
  <p:notesMasterIdLst>
    <p:notesMasterId xmlns:r="http://schemas.openxmlformats.org/officeDocument/2006/relationships" r:id="R04cd18b06738431f"/>
  </p:notesMasterIdLst>
  <p:sldIdLst>
    <p:sldId xmlns:r="http://schemas.openxmlformats.org/officeDocument/2006/relationships" id="256" r:id="R04f512c4e1f74ff9"/>
    <p:sldId xmlns:r="http://schemas.openxmlformats.org/officeDocument/2006/relationships" id="257" r:id="R426d8bed9a764613"/>
    <p:sldId xmlns:r="http://schemas.openxmlformats.org/officeDocument/2006/relationships" id="258" r:id="Rb85af0bbc3b64928"/>
    <p:sldId xmlns:r="http://schemas.openxmlformats.org/officeDocument/2006/relationships" id="259" r:id="R17f1b59c083b4ea3"/>
    <p:sldId xmlns:r="http://schemas.openxmlformats.org/officeDocument/2006/relationships" id="260" r:id="Rec2eeb225ce14ec8"/>
    <p:sldId xmlns:r="http://schemas.openxmlformats.org/officeDocument/2006/relationships" id="261" r:id="R1b9c52e772b246c9"/>
    <p:sldId xmlns:r="http://schemas.openxmlformats.org/officeDocument/2006/relationships" id="262" r:id="R4ccb6d8561534056"/>
    <p:sldId xmlns:r="http://schemas.openxmlformats.org/officeDocument/2006/relationships" id="263" r:id="R37c00733602241a0"/>
    <p:sldId xmlns:r="http://schemas.openxmlformats.org/officeDocument/2006/relationships" id="264" r:id="R387386978dc14074"/>
    <p:sldId xmlns:r="http://schemas.openxmlformats.org/officeDocument/2006/relationships" id="265" r:id="Rffe827ab20fa4778"/>
    <p:sldId xmlns:r="http://schemas.openxmlformats.org/officeDocument/2006/relationships" id="266" r:id="R2fb1748a84a545a4"/>
    <p:sldId xmlns:r="http://schemas.openxmlformats.org/officeDocument/2006/relationships" id="267" r:id="Ra5057b6efede44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f7b4489ee4c14" /><Relationship Type="http://schemas.openxmlformats.org/officeDocument/2006/relationships/slideMaster" Target="/ppt/slideMasters/slideMaster1.xml" Id="Rab46905f95eb4efd" /><Relationship Type="http://schemas.openxmlformats.org/officeDocument/2006/relationships/slideMaster" Target="/ppt/slideMasters/slideMaster2.xml" Id="R9793e0840e3e43bf" /><Relationship Type="http://schemas.openxmlformats.org/officeDocument/2006/relationships/notesMaster" Target="/ppt/notesMasters/notesMaster1.xml" Id="R04cd18b06738431f" /><Relationship Type="http://schemas.openxmlformats.org/officeDocument/2006/relationships/presProps" Target="/ppt/presProps.xml" Id="Ra8eeca9e3cf84029" /><Relationship Type="http://schemas.openxmlformats.org/officeDocument/2006/relationships/viewProps" Target="/ppt/viewProps.xml" Id="Rcfd6258b4ea64628" /><Relationship Type="http://schemas.openxmlformats.org/officeDocument/2006/relationships/tableStyles" Target="/ppt/tableStyles.xml" Id="R925c2f55b1644516" /><Relationship Type="http://schemas.openxmlformats.org/officeDocument/2006/relationships/slide" Target="/ppt/slides/slide1.xml" Id="R04f512c4e1f74ff9" /><Relationship Type="http://schemas.openxmlformats.org/officeDocument/2006/relationships/slide" Target="/ppt/slides/slide2.xml" Id="R426d8bed9a764613" /><Relationship Type="http://schemas.openxmlformats.org/officeDocument/2006/relationships/slide" Target="/ppt/slides/slide3.xml" Id="Rb85af0bbc3b64928" /><Relationship Type="http://schemas.openxmlformats.org/officeDocument/2006/relationships/slide" Target="/ppt/slides/slide4.xml" Id="R17f1b59c083b4ea3" /><Relationship Type="http://schemas.openxmlformats.org/officeDocument/2006/relationships/slide" Target="/ppt/slides/slide5.xml" Id="Rec2eeb225ce14ec8" /><Relationship Type="http://schemas.openxmlformats.org/officeDocument/2006/relationships/slide" Target="/ppt/slides/slide6.xml" Id="R1b9c52e772b246c9" /><Relationship Type="http://schemas.openxmlformats.org/officeDocument/2006/relationships/slide" Target="/ppt/slides/slide7.xml" Id="R4ccb6d8561534056" /><Relationship Type="http://schemas.openxmlformats.org/officeDocument/2006/relationships/slide" Target="/ppt/slides/slide8.xml" Id="R37c00733602241a0" /><Relationship Type="http://schemas.openxmlformats.org/officeDocument/2006/relationships/slide" Target="/ppt/slides/slide9.xml" Id="R387386978dc14074" /><Relationship Type="http://schemas.openxmlformats.org/officeDocument/2006/relationships/slide" Target="/ppt/slides/slide10.xml" Id="Rffe827ab20fa4778" /><Relationship Type="http://schemas.openxmlformats.org/officeDocument/2006/relationships/slide" Target="/ppt/slides/slide11.xml" Id="R2fb1748a84a545a4" /><Relationship Type="http://schemas.openxmlformats.org/officeDocument/2006/relationships/slide" Target="/ppt/slides/slide12.xml" Id="Ra5057b6efede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7b847e51e25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主题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d11bcbdd44d20" /><Relationship Type="http://schemas.openxmlformats.org/officeDocument/2006/relationships/notesMaster" Target="/ppt/notesMasters/notesMaster1.xml" Id="R9f9d85273b3646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5446567064d50" /><Relationship Type="http://schemas.openxmlformats.org/officeDocument/2006/relationships/notesMaster" Target="/ppt/notesMasters/notesMaster1.xml" Id="R49d5bb46e26f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f919b6078a46c6" /><Relationship Type="http://schemas.openxmlformats.org/officeDocument/2006/relationships/notesMaster" Target="/ppt/notesMasters/notesMaster1.xml" Id="Rd46df1f0b5c8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5163179d1b4830" /><Relationship Type="http://schemas.openxmlformats.org/officeDocument/2006/relationships/notesMaster" Target="/ppt/notesMasters/notesMaster1.xml" Id="R8fd75b29b42d48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264e40306410e" /><Relationship Type="http://schemas.openxmlformats.org/officeDocument/2006/relationships/notesMaster" Target="/ppt/notesMasters/notesMaster1.xml" Id="R792da489c21c49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84a658d2164bd6" /><Relationship Type="http://schemas.openxmlformats.org/officeDocument/2006/relationships/notesMaster" Target="/ppt/notesMasters/notesMaster1.xml" Id="R947d403fb69c46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dce3053cc4959" /><Relationship Type="http://schemas.openxmlformats.org/officeDocument/2006/relationships/notesMaster" Target="/ppt/notesMasters/notesMaster1.xml" Id="Rd44e8ea0ce9349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e73d1ffe7e41a6" /><Relationship Type="http://schemas.openxmlformats.org/officeDocument/2006/relationships/notesMaster" Target="/ppt/notesMasters/notesMaster1.xml" Id="R1a5c6e46928b47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3f4b4f84e54a11" /><Relationship Type="http://schemas.openxmlformats.org/officeDocument/2006/relationships/notesMaster" Target="/ppt/notesMasters/notesMaster1.xml" Id="Ra93a40ccdef04d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802878e9d04bee" /><Relationship Type="http://schemas.openxmlformats.org/officeDocument/2006/relationships/notesMaster" Target="/ppt/notesMasters/notesMaster1.xml" Id="R2d812ccc5c1448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e5161000414b42" /><Relationship Type="http://schemas.openxmlformats.org/officeDocument/2006/relationships/notesMaster" Target="/ppt/notesMasters/notesMaster1.xml" Id="R92e383f18b1643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7b7ae8b0c54a3c" /><Relationship Type="http://schemas.openxmlformats.org/officeDocument/2006/relationships/notesMaster" Target="/ppt/notesMasters/notesMaster1.xml" Id="R305324ff246a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牵头单位中国科学院大学，同时也是课题一、二牵头单位，是我国最早的社会力量密码研究单位，鉴别与授权工作组组长单位，密码专业学位研究生教指委秘书处单位，在密码和信息安全领域主持上百项国家级课题，获得数十项国家和省级奖项，首次提出</a:t>
            </a:r>
            <a:r>
              <a:t>SM2</a:t>
            </a:r>
            <a:r>
              <a:t>协同方案，得到产业界广泛认可。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899f8edd54b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4b0cc592f40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c90b6770a48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82de3949d49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e516a8f49341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4eb8d641d341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e9429de6a847f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7d46745e3040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f176a4ce14497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b2ce6f1c394d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ac0522e3d34ca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34bb41258340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307be0bf8643b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cc4b26a7944dd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b8bcd210f14ab7" /></Relationships>
</file>

<file path=ppt/slideLayouts/slideLayout1.xml><?xml version="1.0" encoding="utf-8"?>
<p:sldLayout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3">
            <a:extLst xmlns:a="http://schemas.openxmlformats.org/drawingml/2006/main">
              <a:ext uri="{FF2B5EF4-FFF2-40B4-BE49-F238E27FC236}">
                <a16:creationId xmlns:a16="http://schemas.microsoft.com/office/drawing/2014/main" id="{202DAB9E-514B-42CC-9FEF-FEE4090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260350"/>
            <a:ext cx="1271588" cy="43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solidFill>
              <a:srgbClr val="0070C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4">
            <a:extLst xmlns:a="http://schemas.openxmlformats.org/drawingml/2006/main">
              <a:ext uri="{FF2B5EF4-FFF2-40B4-BE49-F238E27FC236}">
                <a16:creationId xmlns:a16="http://schemas.microsoft.com/office/drawing/2014/main" id="{1E735978-7E2A-49F6-B88A-5D1855A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8" y="260350"/>
            <a:ext cx="73025" cy="43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solidFill>
              <a:srgbClr val="0070C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5">
            <a:extLst xmlns:a="http://schemas.openxmlformats.org/drawingml/2006/main">
              <a:ext uri="{FF2B5EF4-FFF2-40B4-BE49-F238E27FC236}">
                <a16:creationId xmlns:a16="http://schemas.microsoft.com/office/drawing/2014/main" id="{62E819AE-C36D-4A48-9C93-57C0C373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9" y="463554"/>
            <a:ext cx="63500" cy="22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solidFill>
              <a:srgbClr val="0070C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C5B42F9-F20E-49FC-858D-49336DE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89" y="834898"/>
            <a:ext cx="82343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0070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3">
            <a:extLst xmlns:a="http://schemas.openxmlformats.org/drawingml/2006/main">
              <a:ext uri="{FF2B5EF4-FFF2-40B4-BE49-F238E27FC236}">
                <a16:creationId xmlns:a16="http://schemas.microsoft.com/office/drawing/2014/main" id="{B45B7320-D731-4110-B99C-B7CCA22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260350"/>
            <a:ext cx="1271588" cy="43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solidFill>
              <a:srgbClr val="0070C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4">
            <a:extLst xmlns:a="http://schemas.openxmlformats.org/drawingml/2006/main">
              <a:ext uri="{FF2B5EF4-FFF2-40B4-BE49-F238E27FC236}">
                <a16:creationId xmlns:a16="http://schemas.microsoft.com/office/drawing/2014/main" id="{93E3FAF2-F306-404F-B5F7-A48F823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8" y="260350"/>
            <a:ext cx="73025" cy="43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solidFill>
              <a:srgbClr val="0070C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5">
            <a:extLst xmlns:a="http://schemas.openxmlformats.org/drawingml/2006/main">
              <a:ext uri="{FF2B5EF4-FFF2-40B4-BE49-F238E27FC236}">
                <a16:creationId xmlns:a16="http://schemas.microsoft.com/office/drawing/2014/main" id="{81BB08C8-0D64-47CD-9779-2D7FBE4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9" y="463554"/>
            <a:ext cx="63500" cy="22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solidFill>
              <a:srgbClr val="0070C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63C0A94-A4E8-44DB-AE63-123D3DAC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89" y="834898"/>
            <a:ext cx="82343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0070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183B5AA-835E-4C04-9154-B6911603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662"/>
            <a:ext cx="9499600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7FA7B368-FA3A-41CA-9CE1-56F9CF3E966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491343" y="1359129"/>
            <a:ext cx="9144000" cy="48702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4050">
                <a:solidFill>
                  <a:schemeClr val="bg1"/>
                </a:solidFill>
                <a:latin typeface="黑体"/>
                <a:ea typeface="黑体"/>
                <a:cs typeface="黑体"/>
              </a:defRPr>
            </a:lvl1pPr>
          </a:lstStyle>
          <a:p xmlns:a="http://schemas.openxmlformats.org/drawingml/2006/main">
            <a:r>
              <a:t>单击此处编辑母版标题样式</a:t>
            </a:r>
            <a:br/>
            <a:br/>
            <a:br/>
            <a:br/>
            <a:br/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760245-658C-4FF7-B1AF-1FE047C2B7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6953E6-9EEC-488A-8770-FB977C6363E0}" type="datetime1">
              <a:t>6/2/26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A193F0D-2CAD-44F2-A1C4-26554C9793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25363B0C-8BA3-4F87-91DA-1BFA6C0A4620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-1" y="2040889"/>
            <a:ext cx="6096000" cy="254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Picture Placeholder 33">
            <a:extLst xmlns:a="http://schemas.openxmlformats.org/drawingml/2006/main">
              <a:ext uri="{FF2B5EF4-FFF2-40B4-BE49-F238E27FC236}">
                <a16:creationId xmlns:a16="http://schemas.microsoft.com/office/drawing/2014/main" id="{3AC665A9-93D6-4065-9C59-4A45C538F078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05312" y="2040889"/>
            <a:ext cx="6096000" cy="254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43318B65-4988-49C4-8387-1CE21981F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7240" y="365126"/>
            <a:ext cx="10515600" cy="7457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2BE2DCB-6704-440D-B764-03EB0892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08" y="526648"/>
            <a:ext cx="97536" cy="4226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0639AB-532E-424E-97D0-55DCE9E895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D4C0B13-7053-412C-8554-5CF33BF83B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D428DFD-6B38-4118-8BE1-10EA399664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ED5FBD-1818-4F16-9E80-3861D6BD8F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E9589A-A189-4CC5-9C96-359D29DD5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F9D7C1-D864-4DD3-8DB6-460F66A97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B6CB148-FD7C-40E6-B605-BD767C699C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357438-E4D0-4D31-BD9D-55AD786FE5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02DF96-B47F-4BFA-A8E4-317D2F5AE9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76D69F-DE7C-4FBD-80CC-BCC3F0689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7AE79C-F355-4DE5-B26C-29C250230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9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8A6363A-C48B-4AA1-BF2A-95B5953CA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4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F4A9E4-53B0-4E6F-9BD0-CC52CBF8DA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47642C-6958-46C9-A002-3B5F99BDFB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06F95B7-6F04-47CD-9E8A-57ED8DAAE8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B77973-5E2D-4BAE-A51B-69ADA9B260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88E73F3-0663-47D1-8C52-9B6790CB35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5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4B7CDC7-A8EB-4649-9294-32DD26F0A1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825625"/>
            <a:ext cx="515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9326DC-CE93-4066-9176-14CEBC149C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C30E8F8-9C6F-4FEF-A4FC-A2DE79103F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EF8D8DE-7BB4-4E8E-BBE8-CBD089FA6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C879E3-E9BB-4B38-85C3-65B4FDFC39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317" y="365126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BBAFBC-F0B3-42F5-A11F-FE000CFFA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0318" y="1681163"/>
            <a:ext cx="5158316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C21ED85-0A81-4E81-A65E-AC85F5C6E5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0318" y="2505075"/>
            <a:ext cx="5158316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C0ADADE-5637-425B-BC94-D7E5C60043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71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154A066-4C49-4517-8D07-6FF2BA5BBC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71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AEA18D0-12AA-4AF8-A544-1B293F6F1D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EBDBC82-05A4-40A1-8699-FB5966D4F2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69533A7-1C07-4037-8B62-DEB0F9F376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5D0708-4E51-4A1A-9970-97EFBE691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4B531B9-6470-4999-A446-D7682DDCB5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CEBDB87-3F5D-44A3-A641-B18DEAF233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6DBF89B-1430-4B1A-9D4D-58ADB1921A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35F9A96-BE32-4950-81C4-3BE4409953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8124A6D-D9D4-44F9-8E2C-F94F7EC615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B7A4674-8BA2-40B2-83E2-4EED5DCD9A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A7FA9B-4F3E-401E-BFCF-E25CA8DD0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318" y="457200"/>
            <a:ext cx="393276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FB5C1BF-6855-428F-9A59-2C83B2385E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717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1E2CF3E-0F02-4EFD-B58B-16B9BF202B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0318" y="2057400"/>
            <a:ext cx="393276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F7DB09A-27C0-42D2-8420-DC7FEAC9B8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030ACB-701A-4C9A-BE0A-2A15E6F71F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3EC4E3-CD21-466A-8E37-60A6ED0854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7BD085-C45E-4F9F-AABE-DD9A5CB8E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318" y="457200"/>
            <a:ext cx="393276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12D5C21-3157-429E-9EA7-39E185EA69B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717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9ECED26-15E3-4402-B24A-12619AA06B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0318" y="2057400"/>
            <a:ext cx="393276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E20D42C-7D00-4656-969D-BC73A8EAE0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AA5C571-5F53-4996-991C-FFBD3A1F0C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47DEBED-4B4B-4A82-B997-555C340872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BCFDEB-A733-47B6-83A3-E64DBFAC6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2916D48-B77B-4BF8-A9CD-4B23A3196E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671800-7B78-4D83-BEA0-B0F4F2F54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140CE7-A728-49C6-B855-5277111A51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6BA3E4-63CC-4E99-8A28-B8781E244E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ED5A1E7-CA8C-4F37-B494-01F7C52CF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31488D7-E817-491E-AD6D-F2054B9933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5125"/>
            <a:ext cx="76835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6E2A55F-EF2C-4C4E-B629-DEBDEB1BA4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67D8CC-AEFA-4C91-89EC-90122DBEB6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EA4634-7628-4633-899F-95D69F0CBD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f7ddbd73049a3" /><Relationship Type="http://schemas.openxmlformats.org/officeDocument/2006/relationships/slideLayout" Target="/ppt/slideLayouts/slideLayout1.xml" Id="R8d0505c349ad42a7" /><Relationship Type="http://schemas.openxmlformats.org/officeDocument/2006/relationships/slideLayout" Target="/ppt/slideLayouts/slideLayout2.xml" Id="R3847075dc27d406e" /><Relationship Type="http://schemas.openxmlformats.org/officeDocument/2006/relationships/slideLayout" Target="/ppt/slideLayouts/slideLayout3.xml" Id="Rd31017004c2d4391" /><Relationship Type="http://schemas.openxmlformats.org/officeDocument/2006/relationships/slideLayout" Target="/ppt/slideLayouts/slideLayout4.xml" Id="R1eb82e2f29e04b9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a104752e864428d" /><Relationship Type="http://schemas.openxmlformats.org/officeDocument/2006/relationships/slideLayout" Target="/ppt/slideLayouts/slideLayout5.xml" Id="R530e4a04e9ee45e4" /><Relationship Type="http://schemas.openxmlformats.org/officeDocument/2006/relationships/slideLayout" Target="/ppt/slideLayouts/slideLayout6.xml" Id="R15cb9947d8654f75" /><Relationship Type="http://schemas.openxmlformats.org/officeDocument/2006/relationships/slideLayout" Target="/ppt/slideLayouts/slideLayout7.xml" Id="Rc84692e85833418d" /><Relationship Type="http://schemas.openxmlformats.org/officeDocument/2006/relationships/slideLayout" Target="/ppt/slideLayouts/slideLayout8.xml" Id="Ra68a9e27b6e743c0" /><Relationship Type="http://schemas.openxmlformats.org/officeDocument/2006/relationships/slideLayout" Target="/ppt/slideLayouts/slideLayout9.xml" Id="Rd00b35f0f51847a8" /><Relationship Type="http://schemas.openxmlformats.org/officeDocument/2006/relationships/slideLayout" Target="/ppt/slideLayouts/slideLayout10.xml" Id="R6b3436348d5a4893" /><Relationship Type="http://schemas.openxmlformats.org/officeDocument/2006/relationships/slideLayout" Target="/ppt/slideLayouts/slideLayout11.xml" Id="Ra5905f03a8ae4b42" /><Relationship Type="http://schemas.openxmlformats.org/officeDocument/2006/relationships/slideLayout" Target="/ppt/slideLayouts/slideLayout12.xml" Id="Rf993c91434d048de" /><Relationship Type="http://schemas.openxmlformats.org/officeDocument/2006/relationships/slideLayout" Target="/ppt/slideLayouts/slideLayout13.xml" Id="Re05ab86763424f46" /><Relationship Type="http://schemas.openxmlformats.org/officeDocument/2006/relationships/slideLayout" Target="/ppt/slideLayouts/slideLayout14.xml" Id="Rd21f386e472c41e3" /><Relationship Type="http://schemas.openxmlformats.org/officeDocument/2006/relationships/slideLayout" Target="/ppt/slideLayouts/slideLayout15.xml" Id="R70341644f2774f2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等腰三角形 2">
            <a:extLst xmlns:a="http://schemas.openxmlformats.org/drawingml/2006/main">
              <a:ext uri="{FF2B5EF4-FFF2-40B4-BE49-F238E27FC236}">
                <a16:creationId xmlns:a16="http://schemas.microsoft.com/office/drawing/2014/main" id="{9E23F23E-1337-4253-9652-86CA2ADE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916" y="6400800"/>
            <a:ext cx="1103085" cy="4572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13CE173-9BE3-48F6-8F92-322FC71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365" y="6492877"/>
            <a:ext cx="64373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4D0393-8EEC-4F41-9351-8510AED98D46}" type="slidenum">
              <a:rPr sz="1350" b="1" i="1">
                <a:solidFill>
                  <a:schemeClr val="bg1"/>
                </a:solidFill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505c349ad42a7"/>
    <p:sldLayoutId xmlns:r="http://schemas.openxmlformats.org/officeDocument/2006/relationships" id="2147483650" r:id="R3847075dc27d406e"/>
    <p:sldLayoutId xmlns:r="http://schemas.openxmlformats.org/officeDocument/2006/relationships" id="2147483651" r:id="Rd31017004c2d4391"/>
    <p:sldLayoutId xmlns:r="http://schemas.openxmlformats.org/officeDocument/2006/relationships" id="2147483652" r:id="R1eb82e2f29e0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342900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685800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028700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371600" algn="l">
        <a:lnSpc>
          <a:spcPct val="90000"/>
        </a:lnSpc>
        <a:spcBef>
          <a:spcPts val="0"/>
        </a:spcBef>
        <a:spcAft>
          <a:spcPts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spcAft>
          <a:spcPts val="0"/>
        </a:spcAft>
        <a:buChar char="•"/>
        <a:defRPr sz="21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4F8C9F4-995F-4CBA-BC9C-852E5425A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ACE56D7-5E5D-4438-B1D2-11C8730A3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B05D1F-367B-4DA4-9927-D5AF6C58F68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3AFD420-AC69-4DC3-ABDF-E9656C763858}" type="datetimeFigureOut">
              <a:t>2026/6/2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DB2C7E-86FA-4FEF-AA1F-0200FF942D7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DA82E00-00F8-4223-8556-561C9C3561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3D5277E-540A-4630-B9B9-1F693FFB97D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530e4a04e9ee45e4"/>
    <p:sldLayoutId xmlns:r="http://schemas.openxmlformats.org/officeDocument/2006/relationships" id="2147483655" r:id="R15cb9947d8654f75"/>
    <p:sldLayoutId xmlns:r="http://schemas.openxmlformats.org/officeDocument/2006/relationships" id="2147483656" r:id="Rc84692e85833418d"/>
    <p:sldLayoutId xmlns:r="http://schemas.openxmlformats.org/officeDocument/2006/relationships" id="2147483657" r:id="Ra68a9e27b6e743c0"/>
    <p:sldLayoutId xmlns:r="http://schemas.openxmlformats.org/officeDocument/2006/relationships" id="2147483658" r:id="Rd00b35f0f51847a8"/>
    <p:sldLayoutId xmlns:r="http://schemas.openxmlformats.org/officeDocument/2006/relationships" id="2147483659" r:id="R6b3436348d5a4893"/>
    <p:sldLayoutId xmlns:r="http://schemas.openxmlformats.org/officeDocument/2006/relationships" id="2147483660" r:id="Ra5905f03a8ae4b42"/>
    <p:sldLayoutId xmlns:r="http://schemas.openxmlformats.org/officeDocument/2006/relationships" id="2147483661" r:id="Rf993c91434d048de"/>
    <p:sldLayoutId xmlns:r="http://schemas.openxmlformats.org/officeDocument/2006/relationships" id="2147483662" r:id="Re05ab86763424f46"/>
    <p:sldLayoutId xmlns:r="http://schemas.openxmlformats.org/officeDocument/2006/relationships" id="2147483663" r:id="Rd21f386e472c41e3"/>
    <p:sldLayoutId xmlns:r="http://schemas.openxmlformats.org/officeDocument/2006/relationships" id="2147483664" r:id="R70341644f2774f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主题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9f27cebcea4de0" /><Relationship Type="http://schemas.openxmlformats.org/officeDocument/2006/relationships/image" Target="/ppt/media/image.png" Id="R39580822f43a4bea" /><Relationship Type="http://schemas.openxmlformats.org/officeDocument/2006/relationships/image" Target="/ppt/media/image2.png" Id="Rd5d5d02c83084947" /><Relationship Type="http://schemas.openxmlformats.org/officeDocument/2006/relationships/image" Target="/ppt/media/image3.png" Id="R710aa6b6c5b44d87" /><Relationship Type="http://schemas.openxmlformats.org/officeDocument/2006/relationships/notesSlide" Target="/ppt/notesSlides/notesSlide1.xml" Id="R73614ef49d4349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c9370dfc5d4cdf" /><Relationship Type="http://schemas.openxmlformats.org/officeDocument/2006/relationships/image" Target="/ppt/media/image2.png" Id="Red22d544a39e4423" /><Relationship Type="http://schemas.openxmlformats.org/officeDocument/2006/relationships/notesSlide" Target="/ppt/notesSlides/notesSlide2.xml" Id="R4d17720649d3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313b17a0b4842" /><Relationship Type="http://schemas.openxmlformats.org/officeDocument/2006/relationships/notesSlide" Target="/ppt/notesSlides/notesSlide3.xml" Id="R66d7ae5ffe49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b252168404b11" /><Relationship Type="http://schemas.openxmlformats.org/officeDocument/2006/relationships/image" Target="/ppt/media/image2.png" Id="R9d7ad8c70f134a5f" /><Relationship Type="http://schemas.openxmlformats.org/officeDocument/2006/relationships/notesSlide" Target="/ppt/notesSlides/notesSlide4.xml" Id="Ref470771870240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290642a2b14594" /><Relationship Type="http://schemas.openxmlformats.org/officeDocument/2006/relationships/image" Target="/ppt/media/image2.png" Id="Rb269dc204a8e4a60" /><Relationship Type="http://schemas.openxmlformats.org/officeDocument/2006/relationships/notesSlide" Target="/ppt/notesSlides/notesSlide5.xml" Id="R3f6499ffae7649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9a4d3977c4250" /><Relationship Type="http://schemas.openxmlformats.org/officeDocument/2006/relationships/notesSlide" Target="/ppt/notesSlides/notesSlide6.xml" Id="Ra22e769eaa97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bd537a9bf4bb7" /><Relationship Type="http://schemas.openxmlformats.org/officeDocument/2006/relationships/image" Target="/ppt/media/image2.png" Id="R9a68ddc4faf64269" /><Relationship Type="http://schemas.openxmlformats.org/officeDocument/2006/relationships/notesSlide" Target="/ppt/notesSlides/notesSlide7.xml" Id="Raa3708641c5241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3f61575ee4bdb" /><Relationship Type="http://schemas.openxmlformats.org/officeDocument/2006/relationships/image" Target="/ppt/media/image2.png" Id="Rec03ed06ceee4d77" /><Relationship Type="http://schemas.openxmlformats.org/officeDocument/2006/relationships/notesSlide" Target="/ppt/notesSlides/notesSlide8.xml" Id="Rea0b06ce624644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3ff78fe8441a5" /><Relationship Type="http://schemas.openxmlformats.org/officeDocument/2006/relationships/image" Target="/ppt/media/image2.png" Id="R8e3b63883ba24906" /><Relationship Type="http://schemas.openxmlformats.org/officeDocument/2006/relationships/notesSlide" Target="/ppt/notesSlides/notesSlide9.xml" Id="Rec826713d87740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995a281794a02" /><Relationship Type="http://schemas.openxmlformats.org/officeDocument/2006/relationships/notesSlide" Target="/ppt/notesSlides/notesSlide10.xml" Id="Rb49eea9f9f0e4f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1bd414b5540b5" /><Relationship Type="http://schemas.openxmlformats.org/officeDocument/2006/relationships/notesSlide" Target="/ppt/notesSlides/notesSlide11.xml" Id="R757a314fb59845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2ef0283b54017" /><Relationship Type="http://schemas.openxmlformats.org/officeDocument/2006/relationships/image" Target="/ppt/media/image4.png" Id="R4aa4b9122efe4986" /><Relationship Type="http://schemas.openxmlformats.org/officeDocument/2006/relationships/image" Target="/ppt/media/image5.png" Id="Rf0e8f0480573456f" /><Relationship Type="http://schemas.openxmlformats.org/officeDocument/2006/relationships/notesSlide" Target="/ppt/notesSlides/notesSlide12.xml" Id="Rf6f76bd08a084d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C34E82-655B-4E50-9B5B-08DC99C0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1" y="1850"/>
            <a:ext cx="12143509" cy="30995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B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80822f43a4bea">
            <a:duotone>
              <a:prstClr val="black"/>
              <a:schemeClr val="tx2">
                <a:tint val="45000"/>
                <a:satMod val="400000"/>
              </a:schemeClr>
            </a:duotone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8547" y="280801"/>
            <a:ext cx="7675294" cy="271492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4E539EBF-F4F7-4732-AA60-D8C58A5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362" y="1496401"/>
            <a:ext cx="816725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75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GB/T 37092《网络安全技术 密码模块安全要求》</a:t>
            </a:r>
          </a:p>
          <a:p xmlns:a="http://schemas.openxmlformats.org/drawingml/2006/main">
            <a:pPr algn="ctr">
              <a:buNone/>
            </a:pPr>
            <a:r>
              <a:rPr sz="2475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试点工作方案</a:t>
            </a:r>
          </a:p>
        </p:txBody>
      </p:sp>
      <p:pic>
        <p:nvPicPr>
          <p:cNvPr id="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5d02c830849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2880" y="229032"/>
            <a:ext cx="3858221" cy="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aa6b6c5b4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55142"/>
            <a:ext cx="12192000" cy="907256"/>
          </a:xfrm>
          <a:prstGeom xmlns:a="http://schemas.openxmlformats.org/drawingml/2006/main" prst="rect">
            <a:avLst/>
          </a:prstGeom>
        </p:spPr>
      </p:pic>
      <p:graphicFrame>
        <p:nvGraphicFramePr>
          <p:cNvPr id="10" name="表格 10"/>
          <p:cNvGraphicFramePr/>
          <p:nvPr/>
        </p:nvGraphicFramePr>
        <p:xfrm>
          <a:off xmlns:a="http://schemas.openxmlformats.org/drawingml/2006/main" x="4329953" y="3746756"/>
          <a:ext xmlns:a="http://schemas.openxmlformats.org/drawingml/2006/main" cx="4016188" cy="1097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682"/>
                <a:gridCol w="2411506"/>
              </a:tblGrid>
              <a:tr h="342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组织单位：</a:t>
                      </a:r>
                    </a:p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汇报人：</a:t>
                      </a:r>
                    </a:p>
                  </a:txBody>
                  <a:tcPr marL="57150" marR="5715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中国科学院大学</a:t>
                      </a:r>
                    </a:p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郑昉昱</a:t>
                      </a:r>
                    </a:p>
                  </a:txBody>
                  <a:tcPr marL="57150" marR="57150" marT="38100" marB="38100" anchor="ctr"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       期：</a:t>
                      </a:r>
                    </a:p>
                  </a:txBody>
                  <a:tcPr marL="57150" marR="5715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2026年4月</a:t>
                      </a:r>
                    </a:p>
                  </a:txBody>
                  <a:tcPr marL="57150" marR="57150" marT="38100" marB="38100" anchor="ctr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076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2d544a39e44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0911" y="206095"/>
            <a:ext cx="2572148" cy="54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862EB5BB-1680-464F-9C89-930F9F9A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957" y="289167"/>
            <a:ext cx="4989800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试点背景和工作定位</a:t>
            </a:r>
          </a:p>
        </p:txBody>
      </p:sp>
      <p:sp>
        <p:nvSpPr>
          <p:cNvPr id="4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268156C7-9934-4CE1-BF81-DB8E7969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35" y="1194865"/>
            <a:ext cx="11450918" cy="5457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7150" tIns="38100" rIns="57150" bIns="3810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GB/T 37092 是密码模块设计、开发、检测认证和部署应用的重要基础性标准。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>
                <a:latin typeface="微软雅黑"/>
                <a:ea typeface="微软雅黑"/>
                <a:cs typeface="微软雅黑"/>
              </a:rPr>
              <a:t>本次修订在继承 2018 版总体框架基础上，对适用范围、模块类型、接口、角色服务与鉴别、软件/固件安全、运行环境、物理安全、非入侵式安全、敏感安全参数管理、自测试、生命周期保障等内容进行系统调整。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>
                <a:latin typeface="微软雅黑"/>
                <a:ea typeface="微软雅黑"/>
                <a:cs typeface="微软雅黑"/>
              </a:rPr>
              <a:t>组织试点的目的，是验证征求意见稿在不同模块类型、安全等级和检测认证场景中的科学性、合理性、完整性和可操作性。</a:t>
            </a:r>
          </a:p>
        </p:txBody>
      </p:sp>
      <p:sp>
        <p:nvSpPr>
          <p:cNvPr id="19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134ABE62-C7B1-F7EE-EDAE-35618E9E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880" y="4009016"/>
            <a:ext cx="1392572" cy="528507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FIPS 140-2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2001年</a:t>
            </a:r>
          </a:p>
        </p:txBody>
      </p:sp>
      <p:sp>
        <p:nvSpPr>
          <p:cNvPr id="20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BE19239-2609-E972-5EDE-597959E2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251" y="6202897"/>
            <a:ext cx="1392572" cy="52850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GM/T 0028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2014年</a:t>
            </a:r>
          </a:p>
        </p:txBody>
      </p:sp>
      <p:sp>
        <p:nvSpPr>
          <p:cNvPr id="21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8954DDC-C08B-EBE1-CD74-FCA312C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752" y="6202897"/>
            <a:ext cx="1392572" cy="52850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GB/T 37092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2018年</a:t>
            </a:r>
          </a:p>
        </p:txBody>
      </p:sp>
      <p:sp>
        <p:nvSpPr>
          <p:cNvPr id="22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11B66532-F6A3-1D30-9523-B92B722C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574" y="3994335"/>
            <a:ext cx="1392572" cy="528507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FIPS 140-3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2019年</a:t>
            </a:r>
          </a:p>
        </p:txBody>
      </p:sp>
      <p:cxnSp>
        <p:nvCxnSpPr>
          <p:cNvPr id="23" name="直接箭头连接符 22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718823" y="6467151"/>
            <a:ext cx="103892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B0F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" name="直接箭头连接符 23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4410452" y="4258589"/>
            <a:ext cx="3340122" cy="1468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prstDash val="sys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5" name="直接箭头连接符 24"/>
          <p:cNvCxnSpPr>
            <a:stCxn xmlns:a="http://schemas.openxmlformats.org/drawingml/2006/main" id="19" idx="2"/>
          </p:cNvCxnSpPr>
          <p:nvPr/>
        </p:nvCxnSpPr>
        <p:spPr>
          <a:xfrm xmlns:a="http://schemas.openxmlformats.org/drawingml/2006/main">
            <a:off x="3714166" y="4537523"/>
            <a:ext cx="0" cy="34464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66AC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" name="直接箭头连接符 25"/>
          <p:cNvCxnSpPr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8446860" y="4522842"/>
            <a:ext cx="0" cy="3593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66AC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xmlns:a="http://schemas.openxmlformats.org/drawingml/2006/main">
            <a:off x="6023935" y="5858248"/>
            <a:ext cx="0" cy="34464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B0F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9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56EC8B8E-DD23-1698-4956-127417A7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48" y="4001675"/>
            <a:ext cx="1392572" cy="528507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FIPS 140-1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1994年</a:t>
            </a:r>
          </a:p>
        </p:txBody>
      </p:sp>
      <p:cxnSp>
        <p:nvCxnSpPr>
          <p:cNvPr id="30" name="直接箭头连接符 29"/>
          <p:cNvCxnSpPr>
            <a:stCxn xmlns:a="http://schemas.openxmlformats.org/drawingml/2006/main" id="29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544120" y="4265929"/>
            <a:ext cx="473760" cy="734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66AC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1998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B6027D-D087-0B8E-6794-6B18CDB6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1659467"/>
            <a:ext cx="2370667" cy="931333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可理解性</a:t>
            </a:r>
          </a:p>
          <a:p xmlns:a="http://schemas.openxmlformats.org/drawingml/2006/main">
            <a:pPr algn="ctr"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3E01B5C-9B24-76CE-92D5-6308BF89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533" y="1659467"/>
            <a:ext cx="2370667" cy="931333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可实施性</a:t>
            </a:r>
          </a:p>
          <a:p xmlns:a="http://schemas.openxmlformats.org/drawingml/2006/main">
            <a:pPr algn="ctr"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BC94E0-B853-95BC-3EFE-94A8A2B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467" y="1659467"/>
            <a:ext cx="2370667" cy="931333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一致性</a:t>
            </a:r>
          </a:p>
          <a:p xmlns:a="http://schemas.openxmlformats.org/drawingml/2006/main">
            <a:pPr algn="ctr">
              <a:buNone/>
            </a:pPr>
            <a:r>
              <a:rPr sz="1500" b="1"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964A3EA0-635F-3A7D-8CC4-0BC654E4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733" y="3120490"/>
            <a:ext cx="1752600" cy="35541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条款清晰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BD03C9F-CFA5-FCBF-0B9A-77190B3E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567" y="3120490"/>
            <a:ext cx="1752600" cy="35541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流程可执行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1A05C00-BDCD-9EAB-93EA-8C0C7173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20490"/>
            <a:ext cx="1752600" cy="35541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判定可复核</a:t>
            </a:r>
          </a:p>
        </p:txBody>
      </p:sp>
      <p:cxnSp>
        <p:nvCxnSpPr>
          <p:cNvPr id="11" name="直接箭头连接符 11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7334" y="3298197"/>
            <a:ext cx="178223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直接箭头连接符 1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52168" y="3298197"/>
            <a:ext cx="178223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58BF47DD-925D-AF88-12A2-1B586378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3879056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试点工作目标</a:t>
            </a:r>
          </a:p>
        </p:txBody>
      </p:sp>
    </p:spTree>
    <p:extLst>
      <p:ext uri="{BB962C8B-B14F-4D97-AF65-F5344CB8AC3E}">
        <p14:creationId xmlns:p14="http://schemas.microsoft.com/office/powerpoint/2010/main" val="45341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标题 1">
            <a:extLst xmlns:a="http://schemas.openxmlformats.org/drawingml/2006/main">
              <a:ext uri="{FF2B5EF4-FFF2-40B4-BE49-F238E27FC236}">
                <a16:creationId xmlns:a16="http://schemas.microsoft.com/office/drawing/2014/main" id="{F42512CE-2C26-FF35-B257-D4C734A2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0" y="265084"/>
            <a:ext cx="5930781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试点组织与职责分工</a:t>
            </a:r>
          </a:p>
        </p:txBody>
      </p:sp>
      <p:sp>
        <p:nvSpPr>
          <p:cNvPr id="26" name="标题 1">
            <a:extLst xmlns:a="http://schemas.openxmlformats.org/drawingml/2006/main">
              <a:ext uri="{FF2B5EF4-FFF2-40B4-BE49-F238E27FC236}">
                <a16:creationId xmlns:a16="http://schemas.microsoft.com/office/drawing/2014/main" id="{9C3F080F-AFF6-03AB-C4B6-B5E3EF25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2352" y="1028155"/>
            <a:ext cx="10312399" cy="498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组织单位：中国科学院大学</a:t>
            </a:r>
          </a:p>
        </p:txBody>
      </p:sp>
      <p:pic>
        <p:nvPicPr>
          <p:cNvPr id="27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ad8c70f134a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129" y="1007423"/>
            <a:ext cx="3429530" cy="7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F2AF39-4EE5-4A8C-9359-C94FE27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F"/>
          </a:solidFill>
          <a:ln xmlns:a="http://schemas.openxmlformats.org/drawingml/2006/main" w="14288">
            <a:solidFill>
              <a:srgbClr val="7FB8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组织单位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总体组织、方案编制、标准解读、进度协调、问题汇总和试点总结报告编写。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6391CF-D66D-4112-BB1E-D52E9D5A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2125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F"/>
          </a:solidFill>
          <a:ln xmlns:a="http://schemas.openxmlformats.org/drawingml/2006/main" w="14288">
            <a:solidFill>
              <a:srgbClr val="7FB8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试点单位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承担条款验证、样品准备、证据提交、检测方法适用性验证和标准完善建议反馈。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5F11C-1E70-4FF4-B700-85FB9120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F"/>
          </a:solidFill>
          <a:ln xmlns:a="http://schemas.openxmlformats.org/drawingml/2006/main" w="14288">
            <a:solidFill>
              <a:srgbClr val="7FB8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技术支撑单位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支撑样品准备、材料提交、技术交流、争议条款研讨和问题处理。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1CAAF0-7AA3-41D5-BAA7-D18F5740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F"/>
          </a:solidFill>
          <a:ln xmlns:a="http://schemas.openxmlformats.org/drawingml/2006/main" w="14288">
            <a:solidFill>
              <a:srgbClr val="7FB8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专家组与闭环机制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对试点方案、过程、结果和标准修改建议进行指导评审，确保结论可支撑标准完善。</a:t>
            </a:r>
          </a:p>
        </p:txBody>
      </p:sp>
    </p:spTree>
    <p:extLst>
      <p:ext uri="{BB962C8B-B14F-4D97-AF65-F5344CB8AC3E}">
        <p14:creationId xmlns:p14="http://schemas.microsoft.com/office/powerpoint/2010/main" val="39655494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9dc204a8e4a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4811" y="182012"/>
            <a:ext cx="2572148" cy="54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8FE0E4-F788-4871-8540-155D049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3879056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试点参与单位</a:t>
            </a:r>
          </a:p>
        </p:txBody>
      </p:sp>
      <p:graphicFrame>
        <p:nvGraphicFramePr>
          <p:cNvPr id="3" name="表格 9"/>
          <p:cNvGraphicFramePr/>
          <p:nvPr/>
        </p:nvGraphicFramePr>
        <p:xfrm>
          <a:off xmlns:a="http://schemas.openxmlformats.org/drawingml/2006/main" x="445675" y="1238250"/>
          <a:ext xmlns:a="http://schemas.openxmlformats.org/drawingml/2006/main" cx="11182731" cy="4572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9563100"/>
              </a:tblGrid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单位与职责</a:t>
                      </a:r>
                    </a:p>
                  </a:txBody>
                  <a:tcPr marL="57150" marR="57150" marT="38100" marB="38100" anchor="ctr"/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组织单位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中国科学院大学：总体组织、方案编制、标准解读、进度协调、问题汇总和试点总结。</a:t>
                      </a:r>
                    </a:p>
                  </a:txBody>
                  <a:tcPr marL="57150" marR="57150" marT="38100" marB="38100" anchor="ctr"/>
                </a:tc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应用推广/检测实践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商用密码检测认证中心（商用密码标准研究院）：结合既有检测认证实践，验证重点条款检测路径。</a:t>
                      </a:r>
                    </a:p>
                  </a:txBody>
                  <a:tcPr marL="57150" marR="57150" marT="38100" marB="38100" anchor="ctr"/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试点单位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18家检测机构、密码产品厂商、应用和技术单位参与；按自身产品、技术基础和场景承担安全域验证任务。</a:t>
                      </a:r>
                    </a:p>
                  </a:txBody>
                  <a:tcPr marL="57150" marR="57150" marT="38100" marB="38100"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技术支撑与专家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标准编制组相关单位、典型厂商、检测机构、应用单位和专家参与样品准备、技术交流、争议研讨和评审。</a:t>
                      </a:r>
                    </a:p>
                  </a:txBody>
                  <a:tcPr marL="57150" marR="5715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554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918CFFA5-5C14-4EAD-BFBE-7298C0C6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1" y="1143185"/>
            <a:ext cx="11439879" cy="55778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spAutoFit/>
          </a:bodyPr>
          <a:lstStyle xmlns:a="http://schemas.openxmlformats.org/drawingml/2006/main"/>
          <a:p xmlns:a="http://schemas.openxmlformats.org/drawingml/2006/main">
            <a:pPr marL="380990" indent="-380990">
              <a:lnSpc>
                <a:spcPct val="150000"/>
              </a:lnSpc>
              <a:buChar char="•"/>
            </a:pPr>
            <a:r>
              <a:rPr sz="1425">
                <a:latin typeface="微软雅黑"/>
                <a:ea typeface="微软雅黑"/>
                <a:cs typeface="微软雅黑"/>
              </a:rPr>
              <a:t>试点依据：以 GB/T 37092 征求意见稿第7章“安全要求”及附录 A、B、C、D、E、F 为主要依据。</a:t>
            </a:r>
          </a:p>
          <a:p xmlns:a="http://schemas.openxmlformats.org/drawingml/2006/main">
            <a:pPr marL="380990" indent="-380990">
              <a:lnSpc>
                <a:spcPct val="150000"/>
              </a:lnSpc>
              <a:buChar char="•"/>
            </a:pPr>
            <a:r>
              <a:rPr sz="1425">
                <a:latin typeface="微软雅黑"/>
                <a:ea typeface="微软雅黑"/>
                <a:cs typeface="微软雅黑"/>
              </a:rPr>
              <a:t>验证范围：覆盖通用要求、密码模块规格、接口、角色服务和鉴别、软件/固件安全、运行环境、物理安全、非入侵式安全、敏感安全参数管理、自测试、生命周期保障及其他攻击缓解。</a:t>
            </a:r>
          </a:p>
          <a:p xmlns:a="http://schemas.openxmlformats.org/drawingml/2006/main">
            <a:pPr marL="838179" indent="-380990">
              <a:lnSpc>
                <a:spcPct val="150000"/>
              </a:lnSpc>
              <a:buChar char="•"/>
            </a:pPr>
            <a:r>
              <a:rPr sz="1425">
                <a:latin typeface="微软雅黑"/>
                <a:ea typeface="微软雅黑"/>
                <a:cs typeface="微软雅黑"/>
              </a:rPr>
              <a:t>试点对象：硬件、软件、固件、混合软件和混合固件密码模块；样品可选择密码卡、密码机、密码芯片、安全模块、软件密码库、固件模块、云密码服务组件等。</a:t>
            </a:r>
          </a:p>
          <a:p xmlns:a="http://schemas.openxmlformats.org/drawingml/2006/main">
            <a:pPr marL="380990" indent="-380990">
              <a:lnSpc>
                <a:spcPct val="150000"/>
              </a:lnSpc>
              <a:buChar char="•"/>
            </a:pPr>
            <a:r>
              <a:rPr sz="1425">
                <a:latin typeface="微软雅黑"/>
                <a:ea typeface="微软雅黑"/>
                <a:cs typeface="微软雅黑"/>
              </a:rPr>
              <a:t>边界说明：试点不形成正式认证结论，评估结果仅作为标准试点验证材料使用。</a:t>
            </a: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86D61E-0B64-EA8E-EDA9-EC515285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3879056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试点范围和对象</a:t>
            </a:r>
          </a:p>
        </p:txBody>
      </p:sp>
    </p:spTree>
    <p:extLst>
      <p:ext uri="{BB962C8B-B14F-4D97-AF65-F5344CB8AC3E}">
        <p14:creationId xmlns:p14="http://schemas.microsoft.com/office/powerpoint/2010/main" val="14091360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8ddc4faf642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4811" y="182012"/>
            <a:ext cx="2572148" cy="54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021101-B34E-832B-5C89-49A5056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7375128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试点任务分工</a:t>
            </a:r>
          </a:p>
        </p:txBody>
      </p:sp>
      <p:sp>
        <p:nvSpPr>
          <p:cNvPr id="4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E959FDE0-C96C-4252-F375-4ACDC5F5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1" y="1135876"/>
            <a:ext cx="11650074" cy="5457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</a:p>
          <a:p xmlns:a="http://schemas.openxmlformats.org/drawingml/2006/main">
            <a:pPr>
              <a:lnSpc>
                <a:spcPct val="150000"/>
              </a:lnSpc>
              <a:buNone/>
            </a:pPr>
          </a:p>
        </p:txBody>
      </p:sp>
      <p:graphicFrame>
        <p:nvGraphicFramePr>
          <p:cNvPr id="5" name="表格 4"/>
          <p:cNvGraphicFramePr/>
          <p:nvPr/>
        </p:nvGraphicFramePr>
        <p:xfrm>
          <a:off xmlns:a="http://schemas.openxmlformats.org/drawingml/2006/main" x="455009" y="1009650"/>
          <a:ext xmlns:a="http://schemas.openxmlformats.org/drawingml/2006/main" cx="11165681" cy="5334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9163050"/>
              </a:tblGrid>
              <a:tr h="323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任务组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重点验证内容与输出</a:t>
                      </a:r>
                    </a:p>
                  </a:txBody>
                  <a:tcPr marL="57150" marR="57150" marT="38100" marB="38100" anchor="ctr"/>
                </a:tc>
              </a:tr>
              <a:tr h="69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通用要求与规格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安全域独立评级、整体评级最低原则、文档要求、模块类型、密码边界、工作模式和被排除部件说明；输出共性问题清单与边界判定示例。</a:t>
                      </a:r>
                    </a:p>
                  </a:txBody>
                  <a:tcPr marL="57150" marR="57150" marT="38100" marB="38100" anchor="ctr"/>
                </a:tc>
              </a:tr>
              <a:tr h="69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接口、角色、服务和鉴别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物理端口与逻辑接口、可信路径、内部加密链路、角色服务授权、鉴别强度和重鉴别要求；输出角色-服务-鉴别矩阵。</a:t>
                      </a:r>
                    </a:p>
                  </a:txBody>
                  <a:tcPr marL="57150" marR="57150" marT="38100" marB="38100" anchor="ctr"/>
                </a:tc>
              </a:tr>
              <a:tr h="69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软件/固件与运行环境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完整性、加载控制、版本标识、更新过程、操作系统访问控制、审计机制和运行环境与密码边界关系。</a:t>
                      </a:r>
                    </a:p>
                  </a:txBody>
                  <a:tcPr marL="57150" marR="57150" marT="38100" marB="38100" anchor="ctr"/>
                </a:tc>
              </a:tr>
              <a:tr h="69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物理、非入侵与其他攻击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拆卸证据/响应、置零、维护接口、环境保护、故障注入、侧信道和其他攻击缓解证据；形成证据要求和方法建议。</a:t>
                      </a:r>
                    </a:p>
                  </a:txBody>
                  <a:tcPr marL="57150" marR="57150" marT="38100" marB="38100" anchor="ctr"/>
                </a:tc>
              </a:tr>
              <a:tr h="69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敏感安全参数管理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关键安全参数、公开安全参数、鉴别数据和鉴别验证数据的生成、建立、输入输出、存储、置零和核准方法；输出参数生命周期矩阵。</a:t>
                      </a:r>
                    </a:p>
                  </a:txBody>
                  <a:tcPr marL="57150" marR="57150" marT="38100" marB="38100" anchor="ctr"/>
                </a:tc>
              </a:tr>
              <a:tr h="695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自测试与生命周期保障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285750" indent="-285750">
                        <a:buChar char="•"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运行前/条件/周期自测试、错误状态、配置管理、有限状态模型、测试文档、配送初始化、生产者证明和生命终止流程。</a:t>
                      </a:r>
                    </a:p>
                  </a:txBody>
                  <a:tcPr marL="57150" marR="5715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6592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3ed06ceee4d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4811" y="182012"/>
            <a:ext cx="2572148" cy="54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E88A46-624E-8DD2-F462-C4F34CFE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7375128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试点实施路径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C65F1-1662-4189-A62D-D5F9A89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192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C9A84-5186-498A-9B32-49CCA95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192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8F8"/>
            </a:solidFill>
            <a:prstDash val="solid"/>
          </a:ln>
        </p:spPr>
        <p:txBody>
          <a:bodyPr xmlns:a="http://schemas.openxmlformats.org/drawingml/2006/main" lIns="133350" tIns="57150" rIns="13335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准备试点技术文件</a:t>
            </a:r>
          </a:p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形成实施细则、条款验证清单、自评估模板、证据材料清单、问题反馈表和报告模板。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0EAFF-5383-46EB-942C-8C59F5AD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E1E0D-78EA-4912-8748-8A03795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8F8"/>
            </a:solidFill>
            <a:prstDash val="solid"/>
          </a:ln>
        </p:spPr>
        <p:txBody>
          <a:bodyPr xmlns:a="http://schemas.openxmlformats.org/drawingml/2006/main" lIns="133350" tIns="57150" rIns="13335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开展标准宣贯和试点培训</a:t>
            </a:r>
          </a:p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说明修订背景、主要变化、安全等级、安全域、文档要求、流程和问题反馈机制。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CF69A-614C-4E04-AE10-71894E96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BBD62-A5A5-4742-B21F-62419760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480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8F8"/>
            </a:solidFill>
            <a:prstDash val="solid"/>
          </a:ln>
        </p:spPr>
        <p:txBody>
          <a:bodyPr xmlns:a="http://schemas.openxmlformats.org/drawingml/2006/main" lIns="133350" tIns="57150" rIns="13335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开展样品和材料准备</a:t>
            </a:r>
          </a:p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围绕典型样品准备安全策略、手册、设计说明、接口说明、角色服务列表、密钥管理、自测试、物理安全和非入侵式安全材料。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30702-EAAE-4D89-83EE-3D2584C0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8A289-3B9B-475A-88EE-AD0D8B3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62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8F8"/>
            </a:solidFill>
            <a:prstDash val="solid"/>
          </a:ln>
        </p:spPr>
        <p:txBody>
          <a:bodyPr xmlns:a="http://schemas.openxmlformats.org/drawingml/2006/main" lIns="133350" tIns="57150" rIns="13335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条款验证、自评估与检测方法验证</a:t>
            </a:r>
          </a:p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按清单逐项核查证据，记录理解差异和实施难点，形成检测路径建议。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E8EB8-A986-4D87-B119-01529CB0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D33AA-E743-41F9-BB68-752F039D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8F8"/>
            </a:solidFill>
            <a:prstDash val="solid"/>
          </a:ln>
        </p:spPr>
        <p:txBody>
          <a:bodyPr xmlns:a="http://schemas.openxmlformats.org/drawingml/2006/main" lIns="133350" tIns="57150" rIns="133350" bIns="57150" anchor="ctr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结果复核、问题研讨和总结报告</a:t>
            </a:r>
          </a:p>
          <a:p xmlns:a="http://schemas.openxmlformats.org/drawingml/2006/main">
            <a:pPr algn="l">
              <a:def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对争议条款分类处理，形成标准修改建议、配套实施建议和试点总结报告。</a:t>
            </a:r>
          </a:p>
        </p:txBody>
      </p:sp>
    </p:spTree>
    <p:extLst>
      <p:ext uri="{BB962C8B-B14F-4D97-AF65-F5344CB8AC3E}">
        <p14:creationId xmlns:p14="http://schemas.microsoft.com/office/powerpoint/2010/main" val="40214024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b63883ba249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4811" y="182012"/>
            <a:ext cx="2572148" cy="54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002136-9BC8-5A86-84A3-A473662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7375128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典型产品试点测试闭环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CBEA15A-BDE7-A1A2-79B8-999718C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1" y="917195"/>
            <a:ext cx="10955529" cy="33673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7150" tIns="57150" rIns="57150" bIns="57150">
            <a:spAutoFit/>
          </a:bodyPr>
          <a:lstStyle xmlns:a="http://schemas.openxmlformats.org/drawingml/2006/main"/>
          <a:p xmlns:a="http://schemas.openxmlformats.org/drawingml/2006/main">
            <a:pPr marL="0">
              <a:lnSpc>
                <a:spcPct val="150000"/>
              </a:lnSpc>
              <a:buNone/>
            </a:pPr>
            <a:r>
              <a:rPr sz="1350" b="1">
                <a:latin typeface="微软雅黑"/>
                <a:ea typeface="微软雅黑"/>
                <a:cs typeface="微软雅黑"/>
              </a:rPr>
              <a:t>试点测试拟至少覆盖：</a:t>
            </a:r>
          </a:p>
          <a:p xmlns:a="http://schemas.openxmlformats.org/drawingml/2006/main">
            <a:pPr marL="0">
              <a:lnSpc>
                <a:spcPct val="150000"/>
              </a:lnSpc>
              <a:buNone/>
            </a:pPr>
            <a:r>
              <a:rPr sz="1350">
                <a:latin typeface="微软雅黑"/>
                <a:ea typeface="微软雅黑"/>
                <a:cs typeface="微软雅黑"/>
              </a:rPr>
              <a:t>安全二级软件密码模块</a:t>
            </a:r>
          </a:p>
          <a:p xmlns:a="http://schemas.openxmlformats.org/drawingml/2006/main">
            <a:pPr marL="0">
              <a:lnSpc>
                <a:spcPct val="150000"/>
              </a:lnSpc>
              <a:buNone/>
            </a:pPr>
            <a:r>
              <a:rPr sz="1350">
                <a:latin typeface="微软雅黑"/>
                <a:ea typeface="微软雅黑"/>
                <a:cs typeface="微软雅黑"/>
              </a:rPr>
              <a:t>安全三级硬件密码模块</a:t>
            </a:r>
          </a:p>
          <a:p xmlns:a="http://schemas.openxmlformats.org/drawingml/2006/main">
            <a:pPr marL="0">
              <a:lnSpc>
                <a:spcPct val="150000"/>
              </a:lnSpc>
              <a:buNone/>
            </a:pPr>
            <a:r>
              <a:t/>
            </a:r>
          </a:p>
          <a:p xmlns:a="http://schemas.openxmlformats.org/drawingml/2006/main">
            <a:pPr marL="0">
              <a:lnSpc>
                <a:spcPct val="150000"/>
              </a:lnSpc>
              <a:buNone/>
            </a:pPr>
            <a:r>
              <a:rPr sz="1350">
                <a:latin typeface="微软雅黑"/>
                <a:ea typeface="微软雅黑"/>
                <a:cs typeface="微软雅黑"/>
              </a:rPr>
              <a:t>形成“条款-证据-测试-结论”闭环，用于验证标准条款与检测实施路径。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D4380-495F-4171-8E31-EBD619D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条款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51864-456A-4EDD-87E2-5727C9A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291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03207-7A20-48B6-9E15-D794D8D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E83F1-7E8A-411C-ACD1-910294A0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2291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0DC56-DBE6-4020-9ED1-CDDD1E90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005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C4E32-FFFE-435B-B657-4EF8AAF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B2979-D2CF-46C1-A7C6-18C99ECD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复核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C56C7-F066-4C59-B1CF-C4F9A4C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828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7FB8E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样品准备、材料提交、自评估、检测方法验证、结果复核和专题研讨共同支撑闭环形成。</a:t>
            </a:r>
          </a:p>
        </p:txBody>
      </p:sp>
    </p:spTree>
    <p:extLst>
      <p:ext uri="{BB962C8B-B14F-4D97-AF65-F5344CB8AC3E}">
        <p14:creationId xmlns:p14="http://schemas.microsoft.com/office/powerpoint/2010/main" val="5590666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" name="表格 1"/>
          <p:cNvGraphicFramePr/>
          <p:nvPr/>
        </p:nvGraphicFramePr>
        <p:xfrm>
          <a:off xmlns:a="http://schemas.openxmlformats.org/drawingml/2006/main" x="157639" y="1066800"/>
          <a:ext xmlns:a="http://schemas.openxmlformats.org/drawingml/2006/main" cx="11634978" cy="495300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7750"/>
                <a:gridCol w="1428750"/>
                <a:gridCol w="4953000"/>
                <a:gridCol w="2762250"/>
                <a:gridCol w="1438275"/>
              </a:tblGrid>
              <a:tr h="323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时间安排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主要工作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输出成果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</a:t>
                      </a:r>
                    </a:p>
                  </a:txBody>
                  <a:tcPr marL="57150" marR="57150" marT="38100" marB="38100" anchor="ctr"/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准备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第1-2周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确定试点单位和联系人；编制试点方案、条款验证清单、自评估模板和报告模板。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方案、分工表、模板材料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组织单位</a:t>
                      </a:r>
                    </a:p>
                  </a:txBody>
                  <a:tcPr marL="57150" marR="57150" marT="38100" marB="38100" anchor="ctr"/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第3周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召开试点启动会和标准宣贯培训，明确任务范围、样品要求、材料要求和进度安排。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会议纪要、培训材料、问题收集表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组织单位/试点单位</a:t>
                      </a:r>
                    </a:p>
                  </a:txBody>
                  <a:tcPr marL="57150" marR="57150" marT="38100" marB="38100" anchor="ctr"/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实施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第4-8周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开展样品准备、材料提交、条款自评估、检测方法验证和阶段性问题研讨。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自评估表、证据材料、阶段问题清单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试点单位</a:t>
                      </a:r>
                    </a:p>
                  </a:txBody>
                  <a:tcPr marL="57150" marR="57150" marT="38100" marB="38100" anchor="ctr"/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复核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第9-10周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组织结果复核和专题研讨，形成条款问题处理建议和标准修改建议。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复核意见、修改建议清单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组织单位/专家组</a:t>
                      </a:r>
                    </a:p>
                  </a:txBody>
                  <a:tcPr marL="57150" marR="57150" marT="38100" marB="38100" anchor="ctr"/>
                </a:tc>
              </a:tr>
              <a:tr h="704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第11-12周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召开试点总结会，形成并提交试点总结报告。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试点总结报告、专家评审意见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组织单位</a:t>
                      </a:r>
                    </a:p>
                  </a:txBody>
                  <a:tcPr marL="57150" marR="57150" marT="38100" marB="38100" anchor="ctr"/>
                </a:tc>
              </a:tr>
            </a:tbl>
          </a:graphicData>
        </a:graphic>
      </p:graphicFrame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ED99D8ED-627F-250C-9B60-D9C76DD0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7375128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试点进度安排</a:t>
            </a:r>
          </a:p>
        </p:txBody>
      </p:sp>
    </p:spTree>
    <p:extLst>
      <p:ext uri="{BB962C8B-B14F-4D97-AF65-F5344CB8AC3E}">
        <p14:creationId xmlns:p14="http://schemas.microsoft.com/office/powerpoint/2010/main" val="14671846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D263E08D-B2C4-E740-B0D4-071DAD6A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461" y="265084"/>
            <a:ext cx="7375128" cy="373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5pPr>
            <a:lvl6pPr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6pPr>
            <a:lvl7pPr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7pPr>
            <a:lvl8pPr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8pPr>
            <a:lvl9pPr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22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试点成果要求与保障机制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mlns:a="http://schemas.openxmlformats.org/drawingml/2006/main" x="157639" y="1066800"/>
          <a:ext xmlns:a="http://schemas.openxmlformats.org/drawingml/2006/main" cx="11634978" cy="476250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7250"/>
                <a:gridCol w="2190750"/>
                <a:gridCol w="5905500"/>
                <a:gridCol w="2676525"/>
              </a:tblGrid>
              <a:tr h="323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成果/机制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核心要求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7150" marR="57150" marT="38100" marB="38100" anchor="ctr"/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条款验证清单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覆盖第7章安全要求和相关附录，记录验证方式、证据材料、判定结果和问题建议。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支撑条款适用性分析</a:t>
                      </a:r>
                    </a:p>
                  </a:txBody>
                  <a:tcPr marL="57150" marR="57150" marT="38100" marB="38100" anchor="ctr"/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试点单位自评估报告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说明试点对象、验证过程、证据材料、条款适用性、发现问题和修改建议。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支撑结果复核</a:t>
                      </a:r>
                    </a:p>
                  </a:txBody>
                  <a:tcPr marL="57150" marR="57150" marT="38100" marB="38100" anchor="ctr"/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问题清单和修改建议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按条款编号归集问题，明确类型、影响范围、建议修改文本或实施说明。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支撑标准完善</a:t>
                      </a:r>
                    </a:p>
                  </a:txBody>
                  <a:tcPr marL="57150" marR="57150" marT="38100" marB="38100" anchor="ctr"/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试点总结报告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总结开展情况、主要结论、典型问题、标准完善建议和后续实施建议。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提交专家组评审</a:t>
                      </a:r>
                    </a:p>
                  </a:txBody>
                  <a:tcPr marL="57150" marR="57150" marT="38100" marB="38100" anchor="ctr"/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保障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协调、材料、闭环、评审、保密合规机制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统一联系人、统一模板、问题编号管理、专家评审和保密/知识产权管理。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确保可汇总、可比较、可复核</a:t>
                      </a:r>
                    </a:p>
                  </a:txBody>
                  <a:tcPr marL="57150" marR="5715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3632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4b9122efe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8f048057345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3352" y="1931790"/>
            <a:ext cx="7784896" cy="268149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9AE9E-98A4-4498-8A1E-EB312D7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3A66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003A66"/>
                </a:solidFill>
                <a:latin typeface="微软雅黑"/>
                <a:ea typeface="微软雅黑"/>
                <a:cs typeface="微软雅黑"/>
              </a:rPr>
              <a:t>请各试点单位按任务分工准备样品与材料，并统一使用条款验证清单、自评估模板和问题反馈表。</a:t>
            </a:r>
          </a:p>
        </p:txBody>
      </p:sp>
    </p:spTree>
    <p:extLst>
      <p:ext uri="{BB962C8B-B14F-4D97-AF65-F5344CB8AC3E}">
        <p14:creationId xmlns:p14="http://schemas.microsoft.com/office/powerpoint/2010/main" val="3896968421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主题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2026-06-02T13:32:37.0080000Z</dcterms:created>
  <dcterms:modified xsi:type="dcterms:W3CDTF">2026-06-02T13:32:37.0080000Z</dcterms:modified>
</coreProperties>
</file>